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3ed5c3d-e9cf-b096-5233-b980a5109459}">
          <p14:sldIdLst>
            <p14:sldId id="256"/>
            <p14:sldId id="257"/>
          </p14:sldIdLst>
        </p14:section>
        <p14:section name="Радиационная разведка" id="{bc359497-e4c9-be71-f09c-27b72842d4c7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Химическая разведка" id="{2596d7ed-a85f-1ed2-08a9-6f8bdc82e30e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panel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" name="Ring outer"/>
          <p:cNvSpPr/>
          <p:nvPr/>
        </p:nvSpPr>
        <p:spPr>
          <a:xfrm>
            <a:off x="6126480" y="1188720"/>
            <a:ext cx="2743200" cy="2743200"/>
          </a:xfrm>
          <a:prstGeom prst="ellips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Ring mid"/>
          <p:cNvSpPr/>
          <p:nvPr/>
        </p:nvSpPr>
        <p:spPr>
          <a:xfrm>
            <a:off x="6583680" y="1645920"/>
            <a:ext cx="1828800" cy="1828800"/>
          </a:xfrm>
          <a:prstGeom prst="ellips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5" name="Core"/>
          <p:cNvSpPr/>
          <p:nvPr/>
        </p:nvSpPr>
        <p:spPr>
          <a:xfrm>
            <a:off x="7132320" y="219456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" name="Tag"/>
          <p:cNvSpPr txBox="1"/>
          <p:nvPr/>
        </p:nvSpPr>
        <p:spPr>
          <a:xfrm>
            <a:off x="548640" y="822960"/>
            <a:ext cx="11887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ТЕМА 6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Приборы радиационной и химической разведки</a:t>
            </a:r>
            <a:endParaRPr lang="en-US" sz="3600" dirty="0"/>
          </a:p>
        </p:txBody>
      </p:sp>
      <p:sp>
        <p:nvSpPr>
          <p:cNvPr id="8" name="University"/>
          <p:cNvSpPr txBox="1"/>
          <p:nvPr/>
        </p:nvSpPr>
        <p:spPr>
          <a:xfrm>
            <a:off x="54864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Азербайджанский государственный экономический университет</a:t>
            </a:r>
            <a:endParaRPr lang="en-US" sz="1400" dirty="0"/>
          </a:p>
        </p:txBody>
      </p:sp>
      <p:sp>
        <p:nvSpPr>
          <p:cNvPr id="9" name="Author"/>
          <p:cNvSpPr txBox="1"/>
          <p:nvPr/>
        </p:nvSpPr>
        <p:spPr>
          <a:xfrm>
            <a:off x="54864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Составила преподаватель кафедры «Гуманитарных дисциплин»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Цель занятия</a:t>
            </a:r>
            <a:endParaRPr lang="en-US" sz="3200" dirty="0"/>
          </a:p>
        </p:txBody>
      </p:sp>
      <p:sp>
        <p:nvSpPr>
          <p:cNvPr id="3" name="Goal row 1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Goal 1 badge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Goal 1 num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Goal text 1"/>
          <p:cNvSpPr txBox="1"/>
          <p:nvPr/>
        </p:nvSpPr>
        <p:spPr>
          <a:xfrm>
            <a:off x="1188720" y="1234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Дозиметрические приборы, используемые в гражданской обороне</a:t>
            </a:r>
            <a:endParaRPr lang="en-US" sz="1600" dirty="0"/>
          </a:p>
        </p:txBody>
      </p:sp>
      <p:sp>
        <p:nvSpPr>
          <p:cNvPr id="7" name="Goal row 2"/>
          <p:cNvSpPr/>
          <p:nvPr/>
        </p:nvSpPr>
        <p:spPr>
          <a:xfrm>
            <a:off x="457200" y="19202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Goal 2 badge"/>
          <p:cNvSpPr/>
          <p:nvPr/>
        </p:nvSpPr>
        <p:spPr>
          <a:xfrm>
            <a:off x="594360" y="20116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Goal 2 num"/>
          <p:cNvSpPr txBox="1"/>
          <p:nvPr/>
        </p:nvSpPr>
        <p:spPr>
          <a:xfrm>
            <a:off x="5943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Goal text 2"/>
          <p:cNvSpPr txBox="1"/>
          <p:nvPr/>
        </p:nvSpPr>
        <p:spPr>
          <a:xfrm>
            <a:off x="1188720" y="19202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Методы обнаружения и измерения ионизирующих излучений</a:t>
            </a:r>
            <a:endParaRPr lang="en-US" sz="1600" dirty="0"/>
          </a:p>
        </p:txBody>
      </p:sp>
      <p:sp>
        <p:nvSpPr>
          <p:cNvPr id="11" name="Goal row 3"/>
          <p:cNvSpPr/>
          <p:nvPr/>
        </p:nvSpPr>
        <p:spPr>
          <a:xfrm>
            <a:off x="457200" y="26060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Goal 3 badge"/>
          <p:cNvSpPr/>
          <p:nvPr/>
        </p:nvSpPr>
        <p:spPr>
          <a:xfrm>
            <a:off x="594360" y="26974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Goal 3 num"/>
          <p:cNvSpPr txBox="1"/>
          <p:nvPr/>
        </p:nvSpPr>
        <p:spPr>
          <a:xfrm>
            <a:off x="5943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Goal text 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Приборы для измерения дозы радиации</a:t>
            </a:r>
            <a:endParaRPr lang="en-US" sz="1600" dirty="0"/>
          </a:p>
        </p:txBody>
      </p:sp>
      <p:sp>
        <p:nvSpPr>
          <p:cNvPr id="15" name="Goal row 4"/>
          <p:cNvSpPr/>
          <p:nvPr/>
        </p:nvSpPr>
        <p:spPr>
          <a:xfrm>
            <a:off x="457200" y="32918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Goal 4 badge"/>
          <p:cNvSpPr/>
          <p:nvPr/>
        </p:nvSpPr>
        <p:spPr>
          <a:xfrm>
            <a:off x="594360" y="33832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Goal 4 num"/>
          <p:cNvSpPr txBox="1"/>
          <p:nvPr/>
        </p:nvSpPr>
        <p:spPr>
          <a:xfrm>
            <a:off x="5943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Goal text 4"/>
          <p:cNvSpPr txBox="1"/>
          <p:nvPr/>
        </p:nvSpPr>
        <p:spPr>
          <a:xfrm>
            <a:off x="1188720" y="32918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Приборы химической разведки</a:t>
            </a:r>
            <a:endParaRPr lang="en-US" sz="1600" dirty="0"/>
          </a:p>
        </p:txBody>
      </p:sp>
      <p:sp>
        <p:nvSpPr>
          <p:cNvPr id="19" name="Goal row 5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Goal 5 badge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Goal 5 num"/>
          <p:cNvSpPr txBox="1"/>
          <p:nvPr/>
        </p:nvSpPr>
        <p:spPr>
          <a:xfrm>
            <a:off x="5943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Goal text 5"/>
          <p:cNvSpPr txBox="1"/>
          <p:nvPr/>
        </p:nvSpPr>
        <p:spPr>
          <a:xfrm>
            <a:off x="1188720" y="3977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Устройство и принцип работы войскового прибора химической разведки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Задачи дозиметрии в ГО</a:t>
            </a:r>
            <a:endParaRPr lang="en-US" sz="3200" dirty="0"/>
          </a:p>
        </p:txBody>
      </p:sp>
      <p:sp>
        <p:nvSpPr>
          <p:cNvPr id="3" name="Task card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ask text 1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Обнаружение и измерение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Мощность дозы излучения — для безопасных аварийно-спасательных работ в очагах поражения</a:t>
            </a:r>
            <a:endParaRPr lang="en-US" sz="1700" dirty="0"/>
          </a:p>
        </p:txBody>
      </p:sp>
      <p:sp>
        <p:nvSpPr>
          <p:cNvPr id="5" name="Task card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ask text 2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Измерение активности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Активность РВ и плотность потока излучения — чтобы определить необходимость дезактивации</a:t>
            </a:r>
            <a:endParaRPr lang="en-US" sz="1700" dirty="0"/>
          </a:p>
        </p:txBody>
      </p:sp>
      <p:sp>
        <p:nvSpPr>
          <p:cNvPr id="7" name="Task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ask text 3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Измерение доз облучения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Определение работо- и жизнеспособности населения и отдельных людей</a:t>
            </a:r>
            <a:endParaRPr lang="en-US" sz="1700" dirty="0"/>
          </a:p>
        </p:txBody>
      </p:sp>
      <p:sp>
        <p:nvSpPr>
          <p:cNvPr id="9" name="Task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ask text 4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Лабораторный контроль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Степень зараженности РВ продуктов питания, воды и фуража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Классификация приборов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 назначению приборы делятся на четыре группы</a:t>
            </a:r>
            <a:endParaRPr lang="en-US" sz="1600" dirty="0"/>
          </a:p>
        </p:txBody>
      </p:sp>
      <p:sp>
        <p:nvSpPr>
          <p:cNvPr id="4" name="Group card 1"/>
          <p:cNvSpPr/>
          <p:nvPr/>
        </p:nvSpPr>
        <p:spPr>
          <a:xfrm>
            <a:off x="45720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Group num 1"/>
          <p:cNvSpPr txBox="1"/>
          <p:nvPr/>
        </p:nvSpPr>
        <p:spPr>
          <a:xfrm>
            <a:off x="59436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Group name 1"/>
          <p:cNvSpPr txBox="1"/>
          <p:nvPr/>
        </p:nvSpPr>
        <p:spPr>
          <a:xfrm>
            <a:off x="59436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Индикаторы</a:t>
            </a:r>
            <a:endParaRPr lang="en-US" sz="1500" dirty="0"/>
          </a:p>
        </p:txBody>
      </p:sp>
      <p:sp>
        <p:nvSpPr>
          <p:cNvPr id="7" name="Group card 2"/>
          <p:cNvSpPr/>
          <p:nvPr/>
        </p:nvSpPr>
        <p:spPr>
          <a:xfrm>
            <a:off x="256032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Group num 2"/>
          <p:cNvSpPr txBox="1"/>
          <p:nvPr/>
        </p:nvSpPr>
        <p:spPr>
          <a:xfrm>
            <a:off x="269748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Group name 2"/>
          <p:cNvSpPr txBox="1"/>
          <p:nvPr/>
        </p:nvSpPr>
        <p:spPr>
          <a:xfrm>
            <a:off x="269748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Рентгенометры-радиометры</a:t>
            </a:r>
            <a:endParaRPr lang="en-US" sz="1500" dirty="0"/>
          </a:p>
        </p:txBody>
      </p:sp>
      <p:sp>
        <p:nvSpPr>
          <p:cNvPr id="10" name="Group card 3"/>
          <p:cNvSpPr/>
          <p:nvPr/>
        </p:nvSpPr>
        <p:spPr>
          <a:xfrm>
            <a:off x="466344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Group num 3"/>
          <p:cNvSpPr txBox="1"/>
          <p:nvPr/>
        </p:nvSpPr>
        <p:spPr>
          <a:xfrm>
            <a:off x="480060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</a:t>
            </a:r>
            <a:endParaRPr lang="en-US" sz="3200" dirty="0"/>
          </a:p>
        </p:txBody>
      </p:sp>
      <p:sp>
        <p:nvSpPr>
          <p:cNvPr id="12" name="Group name 3"/>
          <p:cNvSpPr txBox="1"/>
          <p:nvPr/>
        </p:nvSpPr>
        <p:spPr>
          <a:xfrm>
            <a:off x="480060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Индивидуальные дозиметры</a:t>
            </a:r>
            <a:endParaRPr lang="en-US" sz="1500" dirty="0"/>
          </a:p>
        </p:txBody>
      </p:sp>
      <p:sp>
        <p:nvSpPr>
          <p:cNvPr id="13" name="Group card 4"/>
          <p:cNvSpPr/>
          <p:nvPr/>
        </p:nvSpPr>
        <p:spPr>
          <a:xfrm>
            <a:off x="676656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Group num 4"/>
          <p:cNvSpPr txBox="1"/>
          <p:nvPr/>
        </p:nvSpPr>
        <p:spPr>
          <a:xfrm>
            <a:off x="69037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4</a:t>
            </a:r>
            <a:endParaRPr lang="en-US" sz="3200" dirty="0"/>
          </a:p>
        </p:txBody>
      </p:sp>
      <p:sp>
        <p:nvSpPr>
          <p:cNvPr id="15" name="Group name 4"/>
          <p:cNvSpPr txBox="1"/>
          <p:nvPr/>
        </p:nvSpPr>
        <p:spPr>
          <a:xfrm>
            <a:off x="690372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Бытовые дозиметры</a:t>
            </a:r>
            <a:endParaRPr lang="en-US" sz="1500" dirty="0"/>
          </a:p>
        </p:txBody>
      </p:sp>
      <p:sp>
        <p:nvSpPr>
          <p:cNvPr id="16" name="Also label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Также их классифицируют по:</a:t>
            </a:r>
            <a:endParaRPr lang="en-US" sz="1400" dirty="0"/>
          </a:p>
        </p:txBody>
      </p:sp>
      <p:sp>
        <p:nvSpPr>
          <p:cNvPr id="17" name="Chip 1"/>
          <p:cNvSpPr/>
          <p:nvPr/>
        </p:nvSpPr>
        <p:spPr>
          <a:xfrm>
            <a:off x="457200" y="38404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типу датчиков</a:t>
            </a:r>
            <a:endParaRPr lang="en-US" sz="1400" dirty="0"/>
          </a:p>
        </p:txBody>
      </p:sp>
      <p:sp>
        <p:nvSpPr>
          <p:cNvPr id="18" name="Chip 2"/>
          <p:cNvSpPr/>
          <p:nvPr/>
        </p:nvSpPr>
        <p:spPr>
          <a:xfrm>
            <a:off x="2834640" y="38404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виду излучения</a:t>
            </a:r>
            <a:endParaRPr lang="en-US" sz="1400" dirty="0"/>
          </a:p>
        </p:txBody>
      </p:sp>
      <p:sp>
        <p:nvSpPr>
          <p:cNvPr id="19" name="Chip 3"/>
          <p:cNvSpPr/>
          <p:nvPr/>
        </p:nvSpPr>
        <p:spPr>
          <a:xfrm>
            <a:off x="5212080" y="3840480"/>
            <a:ext cx="35661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характеру электрических сигналов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Принцип обнаружения излучений</a:t>
            </a:r>
            <a:endParaRPr lang="en-US" sz="3200" dirty="0"/>
          </a:p>
        </p:txBody>
      </p:sp>
      <p:sp>
        <p:nvSpPr>
          <p:cNvPr id="3" name="Flow card 1"/>
          <p:cNvSpPr/>
          <p:nvPr/>
        </p:nvSpPr>
        <p:spPr>
          <a:xfrm>
            <a:off x="45720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Flow text 1"/>
          <p:cNvSpPr txBox="1"/>
          <p:nvPr/>
        </p:nvSpPr>
        <p:spPr>
          <a:xfrm>
            <a:off x="56692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Излучение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нейтроны, γ-лучи, β- и α-частицы</a:t>
            </a:r>
            <a:endParaRPr lang="en-US" sz="1600" dirty="0"/>
          </a:p>
        </p:txBody>
      </p:sp>
      <p:sp>
        <p:nvSpPr>
          <p:cNvPr id="5" name="Arrow 1"/>
          <p:cNvSpPr txBox="1"/>
          <p:nvPr/>
        </p:nvSpPr>
        <p:spPr>
          <a:xfrm>
            <a:off x="224028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6" name="Flow card 2"/>
          <p:cNvSpPr/>
          <p:nvPr/>
        </p:nvSpPr>
        <p:spPr>
          <a:xfrm>
            <a:off x="260604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Flow text 2"/>
          <p:cNvSpPr txBox="1"/>
          <p:nvPr/>
        </p:nvSpPr>
        <p:spPr>
          <a:xfrm>
            <a:off x="271576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Ионизация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вещества среды</a:t>
            </a:r>
            <a:endParaRPr lang="en-US" sz="1600" dirty="0"/>
          </a:p>
        </p:txBody>
      </p:sp>
      <p:sp>
        <p:nvSpPr>
          <p:cNvPr id="8" name="Arrow 2"/>
          <p:cNvSpPr txBox="1"/>
          <p:nvPr/>
        </p:nvSpPr>
        <p:spPr>
          <a:xfrm>
            <a:off x="438912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Flow card 3"/>
          <p:cNvSpPr/>
          <p:nvPr/>
        </p:nvSpPr>
        <p:spPr>
          <a:xfrm>
            <a:off x="475488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Flow text 3"/>
          <p:cNvSpPr txBox="1"/>
          <p:nvPr/>
        </p:nvSpPr>
        <p:spPr>
          <a:xfrm>
            <a:off x="486460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Изменения в веществе</a:t>
            </a:r>
            <a:endParaRPr lang="en-US" sz="1600" dirty="0"/>
          </a:p>
        </p:txBody>
      </p:sp>
      <p:sp>
        <p:nvSpPr>
          <p:cNvPr id="11" name="Arrow 3"/>
          <p:cNvSpPr txBox="1"/>
          <p:nvPr/>
        </p:nvSpPr>
        <p:spPr>
          <a:xfrm>
            <a:off x="653796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Flow card 4"/>
          <p:cNvSpPr/>
          <p:nvPr/>
        </p:nvSpPr>
        <p:spPr>
          <a:xfrm>
            <a:off x="690372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Flow text 4"/>
          <p:cNvSpPr txBox="1"/>
          <p:nvPr/>
        </p:nvSpPr>
        <p:spPr>
          <a:xfrm>
            <a:off x="701344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Обнаружение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 измерение</a:t>
            </a:r>
            <a:endParaRPr lang="en-US" sz="1600" dirty="0"/>
          </a:p>
        </p:txBody>
      </p:sp>
      <p:sp>
        <p:nvSpPr>
          <p:cNvPr id="14" name="Changes label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Что именно можно измерить:</a:t>
            </a:r>
            <a:endParaRPr lang="en-US" sz="1600" dirty="0"/>
          </a:p>
        </p:txBody>
      </p:sp>
      <p:sp>
        <p:nvSpPr>
          <p:cNvPr id="15" name="Change card 1"/>
          <p:cNvSpPr/>
          <p:nvPr/>
        </p:nvSpPr>
        <p:spPr>
          <a:xfrm>
            <a:off x="45720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электропроводность веществ</a:t>
            </a:r>
            <a:endParaRPr lang="en-US" sz="1400" dirty="0"/>
          </a:p>
        </p:txBody>
      </p:sp>
      <p:sp>
        <p:nvSpPr>
          <p:cNvPr id="16" name="Change card 2"/>
          <p:cNvSpPr/>
          <p:nvPr/>
        </p:nvSpPr>
        <p:spPr>
          <a:xfrm>
            <a:off x="260604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люминесценция (свечение)</a:t>
            </a:r>
            <a:endParaRPr lang="en-US" sz="1400" dirty="0"/>
          </a:p>
        </p:txBody>
      </p:sp>
      <p:sp>
        <p:nvSpPr>
          <p:cNvPr id="17" name="Change card 3"/>
          <p:cNvSpPr/>
          <p:nvPr/>
        </p:nvSpPr>
        <p:spPr>
          <a:xfrm>
            <a:off x="475488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засвечивание фотопленок</a:t>
            </a:r>
            <a:endParaRPr lang="en-US" sz="1400" dirty="0"/>
          </a:p>
        </p:txBody>
      </p:sp>
      <p:sp>
        <p:nvSpPr>
          <p:cNvPr id="18" name="Change card 4"/>
          <p:cNvSpPr/>
          <p:nvPr/>
        </p:nvSpPr>
        <p:spPr>
          <a:xfrm>
            <a:off x="690372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цвет и прозрачность растворов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Четыре метода измерения</a:t>
            </a:r>
            <a:endParaRPr lang="en-US" sz="3200" dirty="0"/>
          </a:p>
        </p:txBody>
      </p:sp>
      <p:sp>
        <p:nvSpPr>
          <p:cNvPr id="3" name="Method card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Method text 1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Фотографический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Почернение фотоэмульсии пропорционально поглощенной дозе. Основа индивидуальных фотодозиметров.</a:t>
            </a:r>
            <a:endParaRPr lang="en-US" sz="1700" dirty="0"/>
          </a:p>
        </p:txBody>
      </p:sp>
      <p:sp>
        <p:nvSpPr>
          <p:cNvPr id="5" name="Method card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Method text 2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Сцинтилляционный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Вещества (ZnS, NaI) светятся под излучением; вспышки считает фотоумножитель.</a:t>
            </a:r>
            <a:endParaRPr lang="en-US" sz="1700" dirty="0"/>
          </a:p>
        </p:txBody>
      </p:sp>
      <p:sp>
        <p:nvSpPr>
          <p:cNvPr id="7" name="Method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Method text 3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Химический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Облучение меняет структуру веществ — по плотности окраски судят о дозе. Приборы ДП-70, ДП-70М.</a:t>
            </a:r>
            <a:endParaRPr lang="en-US" sz="1700" dirty="0"/>
          </a:p>
        </p:txBody>
      </p:sp>
      <p:sp>
        <p:nvSpPr>
          <p:cNvPr id="9" name="Method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Method text 4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Ионизационный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Ионизация газа создает ток между электродами. Самый распространенный метод в современных приборах.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Устройство приборов</a:t>
            </a:r>
            <a:endParaRPr lang="en-US" sz="3200" dirty="0"/>
          </a:p>
        </p:txBody>
      </p:sp>
      <p:sp>
        <p:nvSpPr>
          <p:cNvPr id="3" name="Part row 1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art 1 badge"/>
          <p:cNvSpPr/>
          <p:nvPr/>
        </p:nvSpPr>
        <p:spPr>
          <a:xfrm>
            <a:off x="594360" y="129844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Part 1 num"/>
          <p:cNvSpPr txBox="1"/>
          <p:nvPr/>
        </p:nvSpPr>
        <p:spPr>
          <a:xfrm>
            <a:off x="59436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rt text 1"/>
          <p:cNvSpPr txBox="1"/>
          <p:nvPr/>
        </p:nvSpPr>
        <p:spPr>
          <a:xfrm>
            <a:off x="1188720" y="118872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Воспринимающее устройство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ионизационная камера или газоразрядный счетчик</a:t>
            </a:r>
            <a:endParaRPr lang="en-US" sz="1500" dirty="0"/>
          </a:p>
        </p:txBody>
      </p:sp>
      <p:sp>
        <p:nvSpPr>
          <p:cNvPr id="7" name="Part row 2"/>
          <p:cNvSpPr/>
          <p:nvPr/>
        </p:nvSpPr>
        <p:spPr>
          <a:xfrm>
            <a:off x="457200" y="1892808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Part 2 badge"/>
          <p:cNvSpPr/>
          <p:nvPr/>
        </p:nvSpPr>
        <p:spPr>
          <a:xfrm>
            <a:off x="594360" y="200253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Part 2 num"/>
          <p:cNvSpPr txBox="1"/>
          <p:nvPr/>
        </p:nvSpPr>
        <p:spPr>
          <a:xfrm>
            <a:off x="59436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Part text 2"/>
          <p:cNvSpPr txBox="1"/>
          <p:nvPr/>
        </p:nvSpPr>
        <p:spPr>
          <a:xfrm>
            <a:off x="1188720" y="1892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Усилитель ионизационного тока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электрическая схема с электрометрической лампой</a:t>
            </a:r>
            <a:endParaRPr lang="en-US" sz="1500" dirty="0"/>
          </a:p>
        </p:txBody>
      </p:sp>
      <p:sp>
        <p:nvSpPr>
          <p:cNvPr id="11" name="Part row 3"/>
          <p:cNvSpPr/>
          <p:nvPr/>
        </p:nvSpPr>
        <p:spPr>
          <a:xfrm>
            <a:off x="457200" y="2596896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Part 3 badge"/>
          <p:cNvSpPr/>
          <p:nvPr/>
        </p:nvSpPr>
        <p:spPr>
          <a:xfrm>
            <a:off x="594360" y="27066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Part 3 num"/>
          <p:cNvSpPr txBox="1"/>
          <p:nvPr/>
        </p:nvSpPr>
        <p:spPr>
          <a:xfrm>
            <a:off x="5943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Part text 3"/>
          <p:cNvSpPr txBox="1"/>
          <p:nvPr/>
        </p:nvSpPr>
        <p:spPr>
          <a:xfrm>
            <a:off x="1188720" y="2596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Нагрузочное сопротивление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и другие элементы схемы</a:t>
            </a:r>
            <a:endParaRPr lang="en-US" sz="1500" dirty="0"/>
          </a:p>
        </p:txBody>
      </p:sp>
      <p:sp>
        <p:nvSpPr>
          <p:cNvPr id="15" name="Part row 4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Part 4 badge"/>
          <p:cNvSpPr/>
          <p:nvPr/>
        </p:nvSpPr>
        <p:spPr>
          <a:xfrm>
            <a:off x="594360" y="34107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Part 4 num"/>
          <p:cNvSpPr txBox="1"/>
          <p:nvPr/>
        </p:nvSpPr>
        <p:spPr>
          <a:xfrm>
            <a:off x="59436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Part text 4"/>
          <p:cNvSpPr txBox="1"/>
          <p:nvPr/>
        </p:nvSpPr>
        <p:spPr>
          <a:xfrm>
            <a:off x="1188720" y="330098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Регистрирующее устройство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микроамперметр</a:t>
            </a:r>
            <a:endParaRPr lang="en-US" sz="1500" dirty="0"/>
          </a:p>
        </p:txBody>
      </p:sp>
      <p:sp>
        <p:nvSpPr>
          <p:cNvPr id="19" name="Part row 5"/>
          <p:cNvSpPr/>
          <p:nvPr/>
        </p:nvSpPr>
        <p:spPr>
          <a:xfrm>
            <a:off x="457200" y="4005072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Part 5 badge"/>
          <p:cNvSpPr/>
          <p:nvPr/>
        </p:nvSpPr>
        <p:spPr>
          <a:xfrm>
            <a:off x="594360" y="411480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Part 5 num"/>
          <p:cNvSpPr txBox="1"/>
          <p:nvPr/>
        </p:nvSpPr>
        <p:spPr>
          <a:xfrm>
            <a:off x="5943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Part text 5"/>
          <p:cNvSpPr txBox="1"/>
          <p:nvPr/>
        </p:nvSpPr>
        <p:spPr>
          <a:xfrm>
            <a:off x="1188720" y="400507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Источник питания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сухие элементы или аккумуляторы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Камера и газоразрядный счетчик</a:t>
            </a:r>
            <a:endParaRPr lang="en-US" sz="3200" dirty="0"/>
          </a:p>
        </p:txBody>
      </p:sp>
      <p:sp>
        <p:nvSpPr>
          <p:cNvPr id="3" name="Compare card 1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Compare title 1"/>
          <p:cNvSpPr txBox="1"/>
          <p:nvPr/>
        </p:nvSpPr>
        <p:spPr>
          <a:xfrm>
            <a:off x="68580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Ионизационная камера</a:t>
            </a:r>
            <a:endParaRPr lang="en-US" sz="1800" dirty="0"/>
          </a:p>
        </p:txBody>
      </p:sp>
      <p:sp>
        <p:nvSpPr>
          <p:cNvPr id="5" name="Compare list 1"/>
          <p:cNvSpPr txBox="1"/>
          <p:nvPr/>
        </p:nvSpPr>
        <p:spPr>
          <a:xfrm>
            <a:off x="685800" y="18745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Замкнутый объем с воздухом и двумя электродами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Излучение ионизирует воздух — возникает ионизационный ток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Ток пропорционален мощности дозы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Работает в области насыщения</a:t>
            </a:r>
            <a:endParaRPr lang="en-US" sz="1600" dirty="0"/>
          </a:p>
        </p:txBody>
      </p:sp>
      <p:sp>
        <p:nvSpPr>
          <p:cNvPr id="6" name="Compare card 2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Compare title 2"/>
          <p:cNvSpPr txBox="1"/>
          <p:nvPr/>
        </p:nvSpPr>
        <p:spPr>
          <a:xfrm>
            <a:off x="48920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Газоразрядный счетчик</a:t>
            </a:r>
            <a:endParaRPr lang="en-US" sz="1800" dirty="0"/>
          </a:p>
        </p:txBody>
      </p:sp>
      <p:sp>
        <p:nvSpPr>
          <p:cNvPr id="8" name="Compare list 2"/>
          <p:cNvSpPr txBox="1"/>
          <p:nvPr/>
        </p:nvSpPr>
        <p:spPr>
          <a:xfrm>
            <a:off x="4892040" y="18745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Цилиндр с разреженной смесью инертных газов (аргон, неон)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Нить-анод по оси, катод — корпус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Одна частица вызывает лавину электронов и импульс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Чувствительнее камеры в десятки тысяч раз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Основные дозиметры</a:t>
            </a:r>
            <a:endParaRPr lang="en-US" sz="3200" dirty="0"/>
          </a:p>
        </p:txBody>
      </p:sp>
      <p:sp>
        <p:nvSpPr>
          <p:cNvPr id="3" name="Device card 1"/>
          <p:cNvSpPr/>
          <p:nvPr/>
        </p:nvSpPr>
        <p:spPr>
          <a:xfrm>
            <a:off x="45720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Device name 1"/>
          <p:cNvSpPr txBox="1"/>
          <p:nvPr/>
        </p:nvSpPr>
        <p:spPr>
          <a:xfrm>
            <a:off x="64008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ДП-22В и ДП-24</a:t>
            </a:r>
            <a:endParaRPr lang="en-US" sz="1800" dirty="0"/>
          </a:p>
        </p:txBody>
      </p:sp>
      <p:sp>
        <p:nvSpPr>
          <p:cNvPr id="5" name="Device text 1"/>
          <p:cNvSpPr txBox="1"/>
          <p:nvPr/>
        </p:nvSpPr>
        <p:spPr>
          <a:xfrm>
            <a:off x="64008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Комплекты карманных дозиметров ДКП-50А для контроля экспозиционных доз γ-излучения. ДП-22В: зарядное устройство ЗД-5 и 50 дозиметров; ДП-24: 5 дозиметров.</a:t>
            </a:r>
            <a:endParaRPr lang="en-US" sz="1600" dirty="0"/>
          </a:p>
        </p:txBody>
      </p:sp>
      <p:sp>
        <p:nvSpPr>
          <p:cNvPr id="6" name="Device card 2"/>
          <p:cNvSpPr/>
          <p:nvPr/>
        </p:nvSpPr>
        <p:spPr>
          <a:xfrm>
            <a:off x="329184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Device name 2"/>
          <p:cNvSpPr txBox="1"/>
          <p:nvPr/>
        </p:nvSpPr>
        <p:spPr>
          <a:xfrm>
            <a:off x="34747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ИД-1</a:t>
            </a:r>
            <a:endParaRPr lang="en-US" sz="1800" dirty="0"/>
          </a:p>
        </p:txBody>
      </p:sp>
      <p:sp>
        <p:nvSpPr>
          <p:cNvPr id="8" name="Device text 2"/>
          <p:cNvSpPr txBox="1"/>
          <p:nvPr/>
        </p:nvSpPr>
        <p:spPr>
          <a:xfrm>
            <a:off x="347472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Измерение поглощенных доз γ-нейтронного излучения. Комплект: дозиметры ИД-1 и зарядное устройство ЗД-6.</a:t>
            </a:r>
            <a:endParaRPr lang="en-US" sz="1600" dirty="0"/>
          </a:p>
        </p:txBody>
      </p:sp>
      <p:sp>
        <p:nvSpPr>
          <p:cNvPr id="9" name="Device card 3"/>
          <p:cNvSpPr/>
          <p:nvPr/>
        </p:nvSpPr>
        <p:spPr>
          <a:xfrm>
            <a:off x="612648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Device name 3"/>
          <p:cNvSpPr txBox="1"/>
          <p:nvPr/>
        </p:nvSpPr>
        <p:spPr>
          <a:xfrm>
            <a:off x="630936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ДП-5А и ДП-5В</a:t>
            </a:r>
            <a:endParaRPr lang="en-US" sz="1800" dirty="0"/>
          </a:p>
        </p:txBody>
      </p:sp>
      <p:sp>
        <p:nvSpPr>
          <p:cNvPr id="11" name="Device text 3"/>
          <p:cNvSpPr txBox="1"/>
          <p:nvPr/>
        </p:nvSpPr>
        <p:spPr>
          <a:xfrm>
            <a:off x="630936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Измерители мощности дозы: уровень радиации на местности и зараженность предметов в мР/ч или Р/ч. Обнаруживают β-излучение.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Приборы химической разведки</a:t>
            </a:r>
            <a:endParaRPr lang="en-US" sz="3200" dirty="0"/>
          </a:p>
        </p:txBody>
      </p:sp>
      <p:sp>
        <p:nvSpPr>
          <p:cNvPr id="3" name="Methods label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Методы обнаружения ОВ и ОХВ</a:t>
            </a:r>
            <a:endParaRPr lang="en-US" sz="1600" dirty="0"/>
          </a:p>
        </p:txBody>
      </p:sp>
      <p:sp>
        <p:nvSpPr>
          <p:cNvPr id="4" name="Method chip 1"/>
          <p:cNvSpPr/>
          <p:nvPr/>
        </p:nvSpPr>
        <p:spPr>
          <a:xfrm>
            <a:off x="457200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ионизационный</a:t>
            </a:r>
            <a:endParaRPr lang="en-US" sz="1400" dirty="0"/>
          </a:p>
        </p:txBody>
      </p:sp>
      <p:sp>
        <p:nvSpPr>
          <p:cNvPr id="5" name="Method chip 2"/>
          <p:cNvSpPr/>
          <p:nvPr/>
        </p:nvSpPr>
        <p:spPr>
          <a:xfrm>
            <a:off x="3264408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люминесцентный</a:t>
            </a:r>
            <a:endParaRPr lang="en-US" sz="1400" dirty="0"/>
          </a:p>
        </p:txBody>
      </p:sp>
      <p:sp>
        <p:nvSpPr>
          <p:cNvPr id="6" name="Method chip 3"/>
          <p:cNvSpPr/>
          <p:nvPr/>
        </p:nvSpPr>
        <p:spPr>
          <a:xfrm>
            <a:off x="6071616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химический</a:t>
            </a:r>
            <a:endParaRPr lang="en-US" sz="1400" dirty="0"/>
          </a:p>
        </p:txBody>
      </p:sp>
      <p:sp>
        <p:nvSpPr>
          <p:cNvPr id="7" name="Method chip 4"/>
          <p:cNvSpPr/>
          <p:nvPr/>
        </p:nvSpPr>
        <p:spPr>
          <a:xfrm>
            <a:off x="457200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биохимический</a:t>
            </a:r>
            <a:endParaRPr lang="en-US" sz="1400" dirty="0"/>
          </a:p>
        </p:txBody>
      </p:sp>
      <p:sp>
        <p:nvSpPr>
          <p:cNvPr id="8" name="Method chip 5"/>
          <p:cNvSpPr/>
          <p:nvPr/>
        </p:nvSpPr>
        <p:spPr>
          <a:xfrm>
            <a:off x="3264408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термокаталитический</a:t>
            </a:r>
            <a:endParaRPr lang="en-US" sz="1400" dirty="0"/>
          </a:p>
        </p:txBody>
      </p:sp>
      <p:sp>
        <p:nvSpPr>
          <p:cNvPr id="9" name="Method chip 6"/>
          <p:cNvSpPr/>
          <p:nvPr/>
        </p:nvSpPr>
        <p:spPr>
          <a:xfrm>
            <a:off x="6071616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электрохимический</a:t>
            </a:r>
            <a:endParaRPr lang="en-US" sz="1400" dirty="0"/>
          </a:p>
        </p:txBody>
      </p:sp>
      <p:sp>
        <p:nvSpPr>
          <p:cNvPr id="10" name="Class card 1"/>
          <p:cNvSpPr/>
          <p:nvPr/>
        </p:nvSpPr>
        <p:spPr>
          <a:xfrm>
            <a:off x="457200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Class title 1"/>
          <p:cNvSpPr txBox="1"/>
          <p:nvPr/>
        </p:nvSpPr>
        <p:spPr>
          <a:xfrm>
            <a:off x="594360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автоматизации</a:t>
            </a:r>
            <a:endParaRPr lang="en-US" sz="1600" dirty="0"/>
          </a:p>
        </p:txBody>
      </p:sp>
      <p:sp>
        <p:nvSpPr>
          <p:cNvPr id="12" name="Class list 1"/>
          <p:cNvSpPr txBox="1"/>
          <p:nvPr/>
        </p:nvSpPr>
        <p:spPr>
          <a:xfrm>
            <a:off x="594360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Ручные — прокачка вручную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Полуавтоматические — электронасос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Автоматические — сигналы без участия человека</a:t>
            </a:r>
            <a:endParaRPr lang="en-US" sz="1300" dirty="0"/>
          </a:p>
        </p:txBody>
      </p:sp>
      <p:sp>
        <p:nvSpPr>
          <p:cNvPr id="13" name="Class card 2"/>
          <p:cNvSpPr/>
          <p:nvPr/>
        </p:nvSpPr>
        <p:spPr>
          <a:xfrm>
            <a:off x="3264408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Class title 2"/>
          <p:cNvSpPr txBox="1"/>
          <p:nvPr/>
        </p:nvSpPr>
        <p:spPr>
          <a:xfrm>
            <a:off x="3401568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применению</a:t>
            </a:r>
            <a:endParaRPr lang="en-US" sz="1600" dirty="0"/>
          </a:p>
        </p:txBody>
      </p:sp>
      <p:sp>
        <p:nvSpPr>
          <p:cNvPr id="15" name="Class list 2"/>
          <p:cNvSpPr txBox="1"/>
          <p:nvPr/>
        </p:nvSpPr>
        <p:spPr>
          <a:xfrm>
            <a:off x="3401568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Переносные — пешая разведка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Бортовые — с автомашин и БТР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Индивидуальные — личный контроль</a:t>
            </a:r>
            <a:endParaRPr lang="en-US" sz="1300" dirty="0"/>
          </a:p>
        </p:txBody>
      </p:sp>
      <p:sp>
        <p:nvSpPr>
          <p:cNvPr id="16" name="Class card 3"/>
          <p:cNvSpPr/>
          <p:nvPr/>
        </p:nvSpPr>
        <p:spPr>
          <a:xfrm>
            <a:off x="6071616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Class title 3"/>
          <p:cNvSpPr txBox="1"/>
          <p:nvPr/>
        </p:nvSpPr>
        <p:spPr>
          <a:xfrm>
            <a:off x="6208776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положению</a:t>
            </a:r>
            <a:endParaRPr lang="en-US" sz="1600" dirty="0"/>
          </a:p>
        </p:txBody>
      </p:sp>
      <p:sp>
        <p:nvSpPr>
          <p:cNvPr id="18" name="Class list 3"/>
          <p:cNvSpPr txBox="1"/>
          <p:nvPr/>
        </p:nvSpPr>
        <p:spPr>
          <a:xfrm>
            <a:off x="6208776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Контактные — внутри зоны заражения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Дистанционные — на расстоянии от очага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ВПХР: войсковой прибор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457200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2,3 кг</a:t>
            </a:r>
            <a:endParaRPr lang="en-US" sz="26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масса прибора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64408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3264408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−40…+40 °C</a:t>
            </a:r>
            <a:endParaRPr lang="en-US" sz="2600" dirty="0"/>
          </a:p>
        </p:txBody>
      </p:sp>
      <p:sp>
        <p:nvSpPr>
          <p:cNvPr id="8" name="Stat label 2"/>
          <p:cNvSpPr txBox="1"/>
          <p:nvPr/>
        </p:nvSpPr>
        <p:spPr>
          <a:xfrm>
            <a:off x="3264408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рабочие температуры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071616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6071616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5·10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1"/>
                </a:solidFill>
              </a:rPr>
              <a:t>−6</a:t>
            </a:r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 мг/л</a:t>
            </a:r>
            <a:endParaRPr lang="en-US" sz="2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071616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чувствительность к ФОВ</a:t>
            </a:r>
            <a:endParaRPr lang="en-US" sz="1400" dirty="0"/>
          </a:p>
        </p:txBody>
      </p:sp>
      <p:sp>
        <p:nvSpPr>
          <p:cNvPr id="12" name="Principle card"/>
          <p:cNvSpPr/>
          <p:nvPr/>
        </p:nvSpPr>
        <p:spPr>
          <a:xfrm>
            <a:off x="457200" y="260604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Principle title"/>
          <p:cNvSpPr txBox="1"/>
          <p:nvPr/>
        </p:nvSpPr>
        <p:spPr>
          <a:xfrm>
            <a:off x="64008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Принцип работы</a:t>
            </a:r>
            <a:endParaRPr lang="en-US" sz="1600" dirty="0"/>
          </a:p>
        </p:txBody>
      </p:sp>
      <p:sp>
        <p:nvSpPr>
          <p:cNvPr id="14" name="Principle text"/>
          <p:cNvSpPr txBox="1"/>
          <p:nvPr/>
        </p:nvSpPr>
        <p:spPr>
          <a:xfrm>
            <a:off x="640080" y="30632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Ручной насос прокачивает воздух через индикаторные трубки. Наполнитель меняет цвет под действием ОВ — по окраске и времени ее появления судят о веществе и его концентрации.</a:t>
            </a:r>
            <a:endParaRPr lang="en-US" sz="1400" dirty="0"/>
          </a:p>
        </p:txBody>
      </p:sp>
      <p:sp>
        <p:nvSpPr>
          <p:cNvPr id="15" name="Kit card"/>
          <p:cNvSpPr/>
          <p:nvPr/>
        </p:nvSpPr>
        <p:spPr>
          <a:xfrm>
            <a:off x="4663440" y="260604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Kit title"/>
          <p:cNvSpPr txBox="1"/>
          <p:nvPr/>
        </p:nvSpPr>
        <p:spPr>
          <a:xfrm>
            <a:off x="484632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Состав комплекта</a:t>
            </a:r>
            <a:endParaRPr lang="en-US" sz="1600" dirty="0"/>
          </a:p>
        </p:txBody>
      </p:sp>
      <p:sp>
        <p:nvSpPr>
          <p:cNvPr id="17" name="Kit list"/>
          <p:cNvSpPr txBox="1"/>
          <p:nvPr/>
        </p:nvSpPr>
        <p:spPr>
          <a:xfrm>
            <a:off x="4846320" y="30632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Насос (2 л/мин) и насадка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Индикаторные трубки в кассетах по 10 шт.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Противодымные фильтры, колпачки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Грелка, лопатка, фонарь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go Light">
  <a:themeElements>
    <a:clrScheme name="Indigo Light">
      <a:dk1>
        <a:srgbClr val="242438"/>
      </a:dk1>
      <a:lt1>
        <a:srgbClr val="FFFFFF"/>
      </a:lt1>
      <a:dk2>
        <a:srgbClr val="2E2A6B"/>
      </a:dk2>
      <a:lt2>
        <a:srgbClr val="F1F0FA"/>
      </a:lt2>
      <a:accent1>
        <a:srgbClr val="4F46B5"/>
      </a:accent1>
      <a:accent2>
        <a:srgbClr val="FF8A65"/>
      </a:accent2>
      <a:accent3>
        <a:srgbClr val="2BA6A0"/>
      </a:accent3>
      <a:accent4>
        <a:srgbClr val="E0568A"/>
      </a:accent4>
      <a:accent5>
        <a:srgbClr val="7C6FD8"/>
      </a:accent5>
      <a:accent6>
        <a:srgbClr val="7A7A99"/>
      </a:accent6>
      <a:hlink>
        <a:srgbClr val="4F46B5"/>
      </a:hlink>
      <a:folHlink>
        <a:srgbClr val="7A7A99"/>
      </a:folHlink>
    </a:clrScheme>
    <a:fontScheme name="Indigo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Приборы радиационной и химической разведки</dc:title>
  <dc:subject>PptxGenJS Presentation</dc:subject>
  <dc:creator>PptxGenJS</dc:creator>
  <cp:lastModifiedBy>PptxGenJS</cp:lastModifiedBy>
  <cp:revision>1</cp:revision>
  <dcterms:created xsi:type="dcterms:W3CDTF">2026-10-28T13:32:33Z</dcterms:created>
  <dcterms:modified xsi:type="dcterms:W3CDTF">2026-10-28T13:32:33Z</dcterms:modified>
</cp:coreProperties>
</file>