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embeddedFontLst>
    <p:embeddedFont>
      <p:font typeface="Andika"/>
      <p:regular r:id="rId201314"/>
    </p:embeddedFont>
    <p:embeddedFont>
      <p:font typeface="Andika Bold"/>
      <p:regular r:id="rId201315"/>
    </p:embeddedFont>
    <p:embeddedFont>
      <p:font typeface="Baloo 2 Extra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jpeg"/><Relationship Id="rId2" Type="http://schemas.openxmlformats.org/officeDocument/2006/relationships/image" Target="../media/image-1002-1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3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017" cy="6858000"/>
          </a:xfrm>
          <a:prstGeom prst="rect">
            <a:avLst/>
          </a:prstGeom>
          <a:solidFill>
            <a:srgbClr val="FFC93C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1659763"/>
            <a:ext cx="6095848" cy="1606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6200" spc="-62" kern="100" dirty="0">
                <a:solidFill>
                  <a:srgbClr val="000000"/>
                </a:solidFill>
                <a:latin typeface="Baloo 2 ExtraBold" pitchFamily="34" charset="0"/>
                <a:ea typeface="Baloo 2 ExtraBold" pitchFamily="34" charset="-122"/>
                <a:cs typeface="Baloo 2 ExtraBold" pitchFamily="34" charset="-120"/>
              </a:rPr>
              <a:t>Tsikan: A Lezgin Pie</a:t>
            </a:r>
            <a:endParaRPr lang="en-US" sz="6200" dirty="0"/>
          </a:p>
        </p:txBody>
      </p:sp>
      <p:sp>
        <p:nvSpPr>
          <p:cNvPr id="4" name="Text 2"/>
          <p:cNvSpPr/>
          <p:nvPr/>
        </p:nvSpPr>
        <p:spPr>
          <a:xfrm>
            <a:off x="609585" y="3693398"/>
            <a:ext cx="6095848" cy="1546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900" dirty="0">
                <a:solidFill>
                  <a:srgbClr val="000000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Tsikan (цкан) is a traditional Lezgin meat pie. It is filling, warm, and made for sharing.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7772206" y="457200"/>
            <a:ext cx="3962301" cy="5943600"/>
          </a:xfrm>
          <a:prstGeom prst="rect">
            <a:avLst/>
          </a:prstGeom>
          <a:noFill/>
          <a:ln w="38099">
            <a:solidFill>
              <a:srgbClr val="2F7FD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0305" y="495300"/>
            <a:ext cx="3886103" cy="5867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 rot="21360000">
            <a:off x="8165796" y="355600"/>
            <a:ext cx="1015975" cy="279301"/>
          </a:xfrm>
          <a:prstGeom prst="rect">
            <a:avLst/>
          </a:prstGeom>
          <a:solidFill>
            <a:srgbClr val="FFC93C">
              <a:alpha val="9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5791"/>
            <a:ext cx="10972526" cy="546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4100" spc="-20" kern="100" dirty="0">
                <a:solidFill>
                  <a:srgbClr val="1F1B17"/>
                </a:solidFill>
                <a:latin typeface="Baloo 2 ExtraBold" pitchFamily="34" charset="0"/>
                <a:ea typeface="Baloo 2 ExtraBold" pitchFamily="34" charset="-122"/>
                <a:cs typeface="Baloo 2 ExtraBold" pitchFamily="34" charset="-120"/>
              </a:rPr>
              <a:t>Why I Like Tsikan</a:t>
            </a:r>
            <a:endParaRPr lang="en-US" sz="4100" dirty="0"/>
          </a:p>
        </p:txBody>
      </p:sp>
      <p:sp>
        <p:nvSpPr>
          <p:cNvPr id="3" name="Shape 1"/>
          <p:cNvSpPr/>
          <p:nvPr/>
        </p:nvSpPr>
        <p:spPr>
          <a:xfrm>
            <a:off x="609585" y="1537295"/>
            <a:ext cx="1066773" cy="1066800"/>
          </a:xfrm>
          <a:prstGeom prst="ellipse">
            <a:avLst/>
          </a:prstGeom>
          <a:noFill/>
          <a:ln w="38099">
            <a:solidFill>
              <a:srgbClr val="1F1B1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232" y="1657945"/>
            <a:ext cx="825479" cy="825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2871041"/>
            <a:ext cx="3454314" cy="441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1F1B17"/>
                </a:solidFill>
                <a:latin typeface="Andika Bold" pitchFamily="34" charset="0"/>
                <a:ea typeface="Andika Bold" pitchFamily="34" charset="-122"/>
                <a:cs typeface="Andika Bold" pitchFamily="34" charset="-120"/>
              </a:rPr>
              <a:t>Warm and filling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609585" y="3597196"/>
            <a:ext cx="3454314" cy="1386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600" dirty="0">
                <a:solidFill>
                  <a:srgbClr val="1F1B17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Tsikan has meat, potatoes, and onion. It makes me feel full.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4368691" y="1537295"/>
            <a:ext cx="1066773" cy="1066800"/>
          </a:xfrm>
          <a:prstGeom prst="ellipse">
            <a:avLst/>
          </a:prstGeom>
          <a:noFill/>
          <a:ln w="38099">
            <a:solidFill>
              <a:srgbClr val="1F1B17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9338" y="1657945"/>
            <a:ext cx="825479" cy="8255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68691" y="2871041"/>
            <a:ext cx="3454314" cy="441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1F1B17"/>
                </a:solidFill>
                <a:latin typeface="Andika Bold" pitchFamily="34" charset="0"/>
                <a:ea typeface="Andika Bold" pitchFamily="34" charset="-122"/>
                <a:cs typeface="Andika Bold" pitchFamily="34" charset="-120"/>
              </a:rPr>
              <a:t>Rich taste</a:t>
            </a:r>
            <a:endParaRPr lang="en-US" sz="2900" dirty="0"/>
          </a:p>
        </p:txBody>
      </p:sp>
      <p:sp>
        <p:nvSpPr>
          <p:cNvPr id="10" name="Text 6"/>
          <p:cNvSpPr/>
          <p:nvPr/>
        </p:nvSpPr>
        <p:spPr>
          <a:xfrm>
            <a:off x="4368691" y="3597196"/>
            <a:ext cx="3454314" cy="1386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600" dirty="0">
                <a:solidFill>
                  <a:srgbClr val="1F1B17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Salt, pepper, and herbs give the pie a good taste.</a:t>
            </a:r>
            <a:endParaRPr lang="en-US" sz="2600" dirty="0"/>
          </a:p>
        </p:txBody>
      </p:sp>
      <p:sp>
        <p:nvSpPr>
          <p:cNvPr id="11" name="Shape 7"/>
          <p:cNvSpPr/>
          <p:nvPr/>
        </p:nvSpPr>
        <p:spPr>
          <a:xfrm>
            <a:off x="8127797" y="1537295"/>
            <a:ext cx="1066773" cy="1066800"/>
          </a:xfrm>
          <a:prstGeom prst="ellipse">
            <a:avLst/>
          </a:prstGeom>
          <a:noFill/>
          <a:ln w="38099">
            <a:solidFill>
              <a:srgbClr val="1F1B17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8444" y="1657945"/>
            <a:ext cx="825479" cy="8255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127797" y="2871041"/>
            <a:ext cx="3454314" cy="441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1F1B17"/>
                </a:solidFill>
                <a:latin typeface="Andika Bold" pitchFamily="34" charset="0"/>
                <a:ea typeface="Andika Bold" pitchFamily="34" charset="-122"/>
                <a:cs typeface="Andika Bold" pitchFamily="34" charset="-120"/>
              </a:rPr>
              <a:t>Good to share</a:t>
            </a:r>
            <a:endParaRPr lang="en-US" sz="2900" dirty="0"/>
          </a:p>
        </p:txBody>
      </p:sp>
      <p:sp>
        <p:nvSpPr>
          <p:cNvPr id="14" name="Text 9"/>
          <p:cNvSpPr/>
          <p:nvPr/>
        </p:nvSpPr>
        <p:spPr>
          <a:xfrm>
            <a:off x="8127797" y="3597196"/>
            <a:ext cx="3454314" cy="1386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600" dirty="0">
                <a:solidFill>
                  <a:srgbClr val="1F1B17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One big pie is good for family, friends, and guests.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4959"/>
            <a:ext cx="5430404" cy="473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550" spc="-18" kern="100" dirty="0">
                <a:solidFill>
                  <a:srgbClr val="1F1B17"/>
                </a:solidFill>
                <a:latin typeface="Baloo 2 ExtraBold" pitchFamily="34" charset="0"/>
                <a:ea typeface="Baloo 2 ExtraBold" pitchFamily="34" charset="-122"/>
                <a:cs typeface="Baloo 2 ExtraBold" pitchFamily="34" charset="-120"/>
              </a:rPr>
              <a:t>What Is Inside Tsikan?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609585" y="1369616"/>
            <a:ext cx="622284" cy="622300"/>
          </a:xfrm>
          <a:prstGeom prst="ellipse">
            <a:avLst/>
          </a:prstGeom>
          <a:noFill/>
          <a:ln w="38099">
            <a:solidFill>
              <a:srgbClr val="1F1B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0779" y="1502966"/>
            <a:ext cx="74938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800" dirty="0">
                <a:solidFill>
                  <a:srgbClr val="1F1B17"/>
                </a:solidFill>
                <a:latin typeface="Baloo 2 ExtraBold" pitchFamily="34" charset="0"/>
                <a:ea typeface="Baloo 2 ExtraBold" pitchFamily="34" charset="-122"/>
                <a:cs typeface="Baloo 2 ExtraBold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460463" y="1457010"/>
            <a:ext cx="4579525" cy="422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50" b="1" dirty="0">
                <a:solidFill>
                  <a:srgbClr val="1F1B17"/>
                </a:solidFill>
                <a:latin typeface="Andika Bold" pitchFamily="34" charset="0"/>
                <a:ea typeface="Andika Bold" pitchFamily="34" charset="-122"/>
                <a:cs typeface="Andika Bold" pitchFamily="34" charset="-120"/>
              </a:rPr>
              <a:t>Meat</a:t>
            </a:r>
            <a:endParaRPr lang="en-US" sz="2750" dirty="0"/>
          </a:p>
        </p:txBody>
      </p:sp>
      <p:sp>
        <p:nvSpPr>
          <p:cNvPr id="6" name="Text 4"/>
          <p:cNvSpPr/>
          <p:nvPr/>
        </p:nvSpPr>
        <p:spPr>
          <a:xfrm>
            <a:off x="1460463" y="2097557"/>
            <a:ext cx="4579525" cy="373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2250" dirty="0">
                <a:solidFill>
                  <a:srgbClr val="1F1B17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Use lamb or beef.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609585" y="2598241"/>
            <a:ext cx="622284" cy="622300"/>
          </a:xfrm>
          <a:prstGeom prst="ellipse">
            <a:avLst/>
          </a:prstGeom>
          <a:noFill/>
          <a:ln w="38099">
            <a:solidFill>
              <a:srgbClr val="1F1B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7861" y="2731591"/>
            <a:ext cx="795218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800" dirty="0">
                <a:solidFill>
                  <a:srgbClr val="1F1B17"/>
                </a:solidFill>
                <a:latin typeface="Baloo 2 ExtraBold" pitchFamily="34" charset="0"/>
                <a:ea typeface="Baloo 2 ExtraBold" pitchFamily="34" charset="-122"/>
                <a:cs typeface="Baloo 2 ExtraBold" pitchFamily="34" charset="-120"/>
              </a:rPr>
              <a:t>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460463" y="2685636"/>
            <a:ext cx="4579525" cy="422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50" b="1" dirty="0">
                <a:solidFill>
                  <a:srgbClr val="1F1B17"/>
                </a:solidFill>
                <a:latin typeface="Andika Bold" pitchFamily="34" charset="0"/>
                <a:ea typeface="Andika Bold" pitchFamily="34" charset="-122"/>
                <a:cs typeface="Andika Bold" pitchFamily="34" charset="-120"/>
              </a:rPr>
              <a:t>Potato and onion</a:t>
            </a:r>
            <a:endParaRPr lang="en-US" sz="2750" dirty="0"/>
          </a:p>
        </p:txBody>
      </p:sp>
      <p:sp>
        <p:nvSpPr>
          <p:cNvPr id="10" name="Text 8"/>
          <p:cNvSpPr/>
          <p:nvPr/>
        </p:nvSpPr>
        <p:spPr>
          <a:xfrm>
            <a:off x="1460463" y="3326182"/>
            <a:ext cx="4579525" cy="747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2250" dirty="0">
                <a:solidFill>
                  <a:srgbClr val="1F1B17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They make the filling soft and rich.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609585" y="4200723"/>
            <a:ext cx="622284" cy="622300"/>
          </a:xfrm>
          <a:prstGeom prst="ellipse">
            <a:avLst/>
          </a:prstGeom>
          <a:noFill/>
          <a:ln w="38099">
            <a:solidFill>
              <a:srgbClr val="1F1B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8555" y="4334073"/>
            <a:ext cx="793829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800" dirty="0">
                <a:solidFill>
                  <a:srgbClr val="1F1B17"/>
                </a:solidFill>
                <a:latin typeface="Baloo 2 ExtraBold" pitchFamily="34" charset="0"/>
                <a:ea typeface="Baloo 2 ExtraBold" pitchFamily="34" charset="-122"/>
                <a:cs typeface="Baloo 2 ExtraBold" pitchFamily="34" charset="-120"/>
              </a:rPr>
              <a:t>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460463" y="4288118"/>
            <a:ext cx="4579525" cy="422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50" b="1" dirty="0">
                <a:solidFill>
                  <a:srgbClr val="1F1B17"/>
                </a:solidFill>
                <a:latin typeface="Andika Bold" pitchFamily="34" charset="0"/>
                <a:ea typeface="Andika Bold" pitchFamily="34" charset="-122"/>
                <a:cs typeface="Andika Bold" pitchFamily="34" charset="-120"/>
              </a:rPr>
              <a:t>Herbs and spices</a:t>
            </a:r>
            <a:endParaRPr lang="en-US" sz="2750" dirty="0"/>
          </a:p>
        </p:txBody>
      </p:sp>
      <p:sp>
        <p:nvSpPr>
          <p:cNvPr id="14" name="Text 12"/>
          <p:cNvSpPr/>
          <p:nvPr/>
        </p:nvSpPr>
        <p:spPr>
          <a:xfrm>
            <a:off x="1460463" y="4928664"/>
            <a:ext cx="4579525" cy="373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2250" dirty="0">
                <a:solidFill>
                  <a:srgbClr val="1F1B17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Use salt, pepper, and thyme.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609585" y="5429349"/>
            <a:ext cx="622284" cy="622300"/>
          </a:xfrm>
          <a:prstGeom prst="ellipse">
            <a:avLst/>
          </a:prstGeom>
          <a:noFill/>
          <a:ln w="38099">
            <a:solidFill>
              <a:srgbClr val="1F1B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673" y="5562699"/>
            <a:ext cx="823693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800" dirty="0">
                <a:solidFill>
                  <a:srgbClr val="1F1B17"/>
                </a:solidFill>
                <a:latin typeface="Baloo 2 ExtraBold" pitchFamily="34" charset="0"/>
                <a:ea typeface="Baloo 2 ExtraBold" pitchFamily="34" charset="-122"/>
                <a:cs typeface="Baloo 2 ExtraBold" pitchFamily="34" charset="-120"/>
              </a:rPr>
              <a:t>4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460463" y="5516744"/>
            <a:ext cx="4579525" cy="422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50" b="1" dirty="0">
                <a:solidFill>
                  <a:srgbClr val="1F1B17"/>
                </a:solidFill>
                <a:latin typeface="Andika Bold" pitchFamily="34" charset="0"/>
                <a:ea typeface="Andika Bold" pitchFamily="34" charset="-122"/>
                <a:cs typeface="Andika Bold" pitchFamily="34" charset="-120"/>
              </a:rPr>
              <a:t>Walnut and greens</a:t>
            </a:r>
            <a:endParaRPr lang="en-US" sz="2750" dirty="0"/>
          </a:p>
        </p:txBody>
      </p:sp>
      <p:sp>
        <p:nvSpPr>
          <p:cNvPr id="18" name="Text 16"/>
          <p:cNvSpPr/>
          <p:nvPr/>
        </p:nvSpPr>
        <p:spPr>
          <a:xfrm>
            <a:off x="1460463" y="6157290"/>
            <a:ext cx="4579525" cy="747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2250" dirty="0">
                <a:solidFill>
                  <a:srgbClr val="1F1B17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Some recipes add walnut or fresh greens.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7563851" y="457200"/>
            <a:ext cx="4170655" cy="5943600"/>
          </a:xfrm>
          <a:prstGeom prst="rect">
            <a:avLst/>
          </a:prstGeom>
          <a:noFill/>
          <a:ln w="38099">
            <a:solidFill>
              <a:srgbClr val="2F7FD1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1950" y="495300"/>
            <a:ext cx="4094457" cy="586740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 rot="21360000">
            <a:off x="7957442" y="355600"/>
            <a:ext cx="1015975" cy="279301"/>
          </a:xfrm>
          <a:prstGeom prst="rect">
            <a:avLst/>
          </a:prstGeom>
          <a:solidFill>
            <a:srgbClr val="FFC93C">
              <a:alpha val="90000"/>
            </a:srgbClr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5791"/>
            <a:ext cx="10972526" cy="546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4100" spc="-20" kern="100" dirty="0">
                <a:solidFill>
                  <a:srgbClr val="1F1B17"/>
                </a:solidFill>
                <a:latin typeface="Baloo 2 ExtraBold" pitchFamily="34" charset="0"/>
                <a:ea typeface="Baloo 2 ExtraBold" pitchFamily="34" charset="-122"/>
                <a:cs typeface="Baloo 2 ExtraBold" pitchFamily="34" charset="-120"/>
              </a:rPr>
              <a:t>When and How We Eat Tsikan</a:t>
            </a:r>
            <a:endParaRPr lang="en-US" sz="4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1578570"/>
            <a:ext cx="660383" cy="660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585" y="2529621"/>
            <a:ext cx="3352716" cy="48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F1B17"/>
                </a:solidFill>
                <a:latin typeface="Andika Bold" pitchFamily="34" charset="0"/>
                <a:ea typeface="Andika Bold" pitchFamily="34" charset="-122"/>
                <a:cs typeface="Andika Bold" pitchFamily="34" charset="-120"/>
              </a:rPr>
              <a:t>Special days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09585" y="3296861"/>
            <a:ext cx="3352716" cy="1386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600" dirty="0">
                <a:solidFill>
                  <a:srgbClr val="1F1B17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Tsikan is good for holidays and a festive table.</a:t>
            </a:r>
            <a:endParaRPr lang="en-US" sz="2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489" y="1578570"/>
            <a:ext cx="660383" cy="66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19489" y="2529621"/>
            <a:ext cx="3352716" cy="48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F1B17"/>
                </a:solidFill>
                <a:latin typeface="Andika Bold" pitchFamily="34" charset="0"/>
                <a:ea typeface="Andika Bold" pitchFamily="34" charset="-122"/>
                <a:cs typeface="Andika Bold" pitchFamily="34" charset="-120"/>
              </a:rPr>
              <a:t>Simple steps</a:t>
            </a:r>
            <a:endParaRPr lang="en-US" sz="3200" dirty="0"/>
          </a:p>
        </p:txBody>
      </p:sp>
      <p:sp>
        <p:nvSpPr>
          <p:cNvPr id="8" name="Text 4"/>
          <p:cNvSpPr/>
          <p:nvPr/>
        </p:nvSpPr>
        <p:spPr>
          <a:xfrm>
            <a:off x="4419489" y="3296861"/>
            <a:ext cx="3352716" cy="1386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600" dirty="0">
                <a:solidFill>
                  <a:srgbClr val="1F1B17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Roll the dough. Add the filling. Pinch the edges.</a:t>
            </a:r>
            <a:endParaRPr lang="en-US" sz="2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394" y="1578570"/>
            <a:ext cx="660383" cy="660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29394" y="2529621"/>
            <a:ext cx="3352716" cy="48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F1B17"/>
                </a:solidFill>
                <a:latin typeface="Andika Bold" pitchFamily="34" charset="0"/>
                <a:ea typeface="Andika Bold" pitchFamily="34" charset="-122"/>
                <a:cs typeface="Andika Bold" pitchFamily="34" charset="-120"/>
              </a:rPr>
              <a:t>Share it warm</a:t>
            </a:r>
            <a:endParaRPr lang="en-US" sz="3200" dirty="0"/>
          </a:p>
        </p:txBody>
      </p:sp>
      <p:sp>
        <p:nvSpPr>
          <p:cNvPr id="11" name="Text 6"/>
          <p:cNvSpPr/>
          <p:nvPr/>
        </p:nvSpPr>
        <p:spPr>
          <a:xfrm>
            <a:off x="8229394" y="3296861"/>
            <a:ext cx="3352716" cy="1386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600" dirty="0">
                <a:solidFill>
                  <a:srgbClr val="1F1B17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Bake it in the oven and serve it warm to guests.</a:t>
            </a:r>
            <a:endParaRPr lang="en-US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2412008"/>
            <a:ext cx="6949207" cy="3836392"/>
          </a:xfrm>
          <a:prstGeom prst="rect">
            <a:avLst/>
          </a:prstGeom>
          <a:solidFill>
            <a:srgbClr val="FFC93C"/>
          </a:solidFill>
          <a:ln/>
        </p:spPr>
      </p:sp>
      <p:sp>
        <p:nvSpPr>
          <p:cNvPr id="3" name="Text 1"/>
          <p:cNvSpPr/>
          <p:nvPr/>
        </p:nvSpPr>
        <p:spPr>
          <a:xfrm>
            <a:off x="990575" y="2785896"/>
            <a:ext cx="6187226" cy="803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6200" spc="-62" kern="100" dirty="0">
                <a:solidFill>
                  <a:srgbClr val="000000"/>
                </a:solidFill>
                <a:latin typeface="Baloo 2 ExtraBold" pitchFamily="34" charset="0"/>
                <a:ea typeface="Baloo 2 ExtraBold" pitchFamily="34" charset="-122"/>
                <a:cs typeface="Baloo 2 ExtraBold" pitchFamily="34" charset="-120"/>
              </a:rPr>
              <a:t>Tsikan Is Great!</a:t>
            </a:r>
            <a:endParaRPr lang="en-US" sz="6200" dirty="0"/>
          </a:p>
        </p:txBody>
      </p:sp>
      <p:sp>
        <p:nvSpPr>
          <p:cNvPr id="4" name="Text 2"/>
          <p:cNvSpPr/>
          <p:nvPr/>
        </p:nvSpPr>
        <p:spPr>
          <a:xfrm>
            <a:off x="990575" y="3992959"/>
            <a:ext cx="6187226" cy="1950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75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Tsikan is a simple and tasty Lezgin meat pie. It brings people together.</a:t>
            </a:r>
            <a:endParaRPr lang="en-US" sz="26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Цкан — tsikan. Try it with family or guests.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2026-10-08T06:07:22Z</dcterms:created>
  <dcterms:modified xsi:type="dcterms:W3CDTF">2026-10-08T06:07:22Z</dcterms:modified>
</cp:coreProperties>
</file>