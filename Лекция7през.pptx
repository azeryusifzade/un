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7500"/>
            <a:ext cx="10566400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7500"/>
            <a:ext cx="10566400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200" kern="0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6200"/>
            <a:ext cx="6540500" cy="210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676650"/>
            <a:ext cx="654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и GNU/Linux: учётные записи, файлы, службы, сеть, мониторинг и восстановление</a:t>
            </a:r>
            <a:endParaRPr lang="en-US" sz="2000" dirty="0"/>
          </a:p>
        </p:txBody>
      </p:sp>
      <p:pic>
        <p:nvPicPr>
          <p:cNvPr id="5" name="Image 0" descr="Щит с замком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6000" y="1651000"/>
            <a:ext cx="3556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безопасности ОС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934" y="1536700"/>
            <a:ext cx="6476746" cy="265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защиты: загрузка и оборудование, ядро, учётные записи, права, приложения, сеть, мониторинг, восстановление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отказе одного механизма остальные ограничивают ущерб (эшелонированная защита)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Приложения работают в пользовательском режиме, ядро и часть драйверов — в режиме ядра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Сбой текстового редактора не остановит систему; критическая ошибка драйвера ядра — может</a:t>
            </a:r>
            <a:endParaRPr lang="en-US" sz="1800" dirty="0"/>
          </a:p>
        </p:txBody>
      </p:sp>
      <p:pic>
        <p:nvPicPr>
          <p:cNvPr id="4" name="Image 0" descr="Слои защит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905000"/>
            <a:ext cx="3302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и авторизация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3386634" cy="1422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197100"/>
            <a:ext cx="29649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Пароль или PIN-код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34" y="1536700"/>
            <a:ext cx="3386634" cy="1422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34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Владение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56634" y="2197100"/>
            <a:ext cx="29649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Аппаратный ключ, приложение-аутентификатор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67" y="1536700"/>
            <a:ext cx="3386634" cy="1422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467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Биометрия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6467" y="2197100"/>
            <a:ext cx="29649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Отпечаток пальца, распознавание лица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620" y="3213100"/>
            <a:ext cx="1079195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подтверждает личность, авторизация определяет разрешённые действия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сочетает факторы разных категорий: пароль + контрольный вопрос — это не MFA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Минимальные привилегии: стандартная запись для работы, отдельная — для администрирования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1–2: привилегии и учётные записи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400"/>
          <a:ext cx="10553700" cy="316230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Текущий пользователь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whoami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whoami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Группы и привилегии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whoami /groups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Повышение привилегий / разрешённые команды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sudo -l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Список пользователей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Get-LocalUser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getent passwd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Административная группа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Get-LocalGroup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getent group sudo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9657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Индивидуальные записи, блокировка записей уволенных, проверка админ-групп. Не удаляйте запись сразу: это затруднит аудит.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учётными записями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2396" y="1536700"/>
            <a:ext cx="10806176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Индивидуальная учётная запись для каждого сотрудника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Своевременная блокировка неиспользуемых записей и записей уволенных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Регулярная проверка состава административных групп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служебных записей и записей пользователей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увольнении: блокировка входа, проверка сеансов и доступа, передача файлов; удаление записи не сразу, чтобы не мешать аудиту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к файлам и каталогам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400"/>
          <a:ext cx="10553700" cy="2001441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00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файла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каталога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500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Чтение содержимого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Просмотр списка имён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 содержимого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Создание и удаление записей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Выполнение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Проход по каталогу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96620" y="3804841"/>
            <a:ext cx="1079195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600 file — только владелец (-rw-------)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700 dir — каталог только для владельца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640 — владелец читает и пишет, группа читает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используйте chmod 777; в Windows — icacls и вкладка «Безопасность»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Обновления и усиление защиты (hardening)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3386634" cy="26924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197100"/>
            <a:ext cx="2964993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update — обновляет список пакетов. sudo apt upgrade — ставит новые версии. В Windows: Центр обновления. Нужна перезагрузка — защита ещё не применена.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34" y="1536700"/>
            <a:ext cx="3386634" cy="26924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34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56634" y="2197100"/>
            <a:ext cx="296499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Удалить лишнее ПО, отключить неиспользуемые службы, ограничить удалённый доступ, блокировка экрана, доверенные источники.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67" y="1536700"/>
            <a:ext cx="3386634" cy="26924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467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Несовместимое ПО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6467" y="2197100"/>
            <a:ext cx="296499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Документировать, протестировать, уточнить у поставщика; временно ограничить сетевой доступ.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Сетевая безопасность и межсетевой экран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9508" y="1536700"/>
            <a:ext cx="6456172" cy="236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Службы: systemctl --type=service --state=running; Get-Service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Порты: sudo ss -tulpen; Get-NetTCPConnection -State Listen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127.0.0.1 — только локально, 0.0.0.0 — все интерфейсы; открытый порт ≠ доступ из Интернета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ufw: default deny incoming, allow outgoing, затем enable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удалённом сервере сначала разрешите административное соединение!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Get-NetFirewallProfile, правила зависят от сетевого профиля</a:t>
            </a:r>
            <a:endParaRPr lang="en-US" sz="1600" dirty="0"/>
          </a:p>
        </p:txBody>
      </p:sp>
      <p:pic>
        <p:nvPicPr>
          <p:cNvPr id="4" name="Image 0" descr="Сетевые узл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905000"/>
            <a:ext cx="3302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Вредоносное ПО и его типы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400"/>
          <a:ext cx="10553700" cy="337820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Основное свойство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Вирус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Заражает другие файлы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Червь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Самостоятельно распространяется по сети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Троян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Выдаёт себя за полезную программу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Шпионская программа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Собирает данные об активности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Вымогатель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Блокирует доступ к файлам или системе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Руткит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Скрывает вредоносную активность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181600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Антивирус + обновления + ограниченные права + контроль приложений + резервные копии. Опасайтесь invoice.pdf.exe; Defender: Get-MpComputerStatus.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атаки на операционную систему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3386634" cy="24892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пароля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197100"/>
            <a:ext cx="296499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Перебор и атаки по словарю на вход и SSH. Защита: сложные пароли, MFA, блокировка после неудачных попыток.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34" y="1536700"/>
            <a:ext cx="3386634" cy="24892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34" y="1790700"/>
            <a:ext cx="296499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привилегий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56634" y="2501900"/>
            <a:ext cx="296499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ошибки или лишних прав для получения прав администратора. Защита: обновления, минимальные привилегии.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67" y="1536700"/>
            <a:ext cx="3386634" cy="24892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467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Фишинг и троян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6467" y="2197100"/>
            <a:ext cx="296499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сам запускает вредоносный файл. Защита: проверка источника, показ расширений, контроль приложений.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2799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всех трёх атак важны журналы: по ним видно, откуда и когда пытались войти.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процессов и обязательный контроль доступа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2396" y="2006600"/>
            <a:ext cx="1080617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Обычные права (DAC) задаёт владелец файла, например chmod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контроль (MAC) задаёт политика системы: SELinux, AppArmor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AppArmor есть в Ubuntu: aa-status показывает профили программ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Windows похожую роль играют UAC, контроль приложений и целостность процессов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Песочница ограничивает программу, даже если она взломана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Шифрование, загрузка и мониторинг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3386634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диска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197100"/>
            <a:ext cx="296499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BitLocker, LUKS, FileVault. Защищает при утере устройства; ключ восстановления храните отдельно.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34" y="1536700"/>
            <a:ext cx="3386634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34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Boot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56634" y="2197100"/>
            <a:ext cx="296499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доверенность компонентов загрузки. Confirm-SecureBootUEFI, manage-bde -status, lsblk -f.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67" y="1536700"/>
            <a:ext cx="3386634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467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6467" y="2197100"/>
            <a:ext cx="296499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Смотрите владельца, путь, подпись, соединения. Высокая нагрузка — не всегда вирус.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процессов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400"/>
          <a:ext cx="10553700" cy="1567061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смотрим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Топ по ресурсам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Get-Process | Sort-Object CPU -Descending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-eo pid,user,comm,%cpu,%mem --sort=-%cpu | head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Сведения о процессе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Get-Process -Id PID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-p PID -o pid,user,comm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96620" y="3370461"/>
            <a:ext cx="1079195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Анализируйте владельца, путь к файлу, подпись, соединения и автозапуск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Windows CPU — накопленное время, а не текущая загрузка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нагрузка не доказывает вредоносность: это может быть архивация или обновление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Журналы, аудит и целостность файлов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9508" y="1536700"/>
            <a:ext cx="6456172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события 4624 (успешный вход) и 4625 (неуспешный) в журнале Security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journalctl -p warning; journalctl -u ssh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Анализируйте источник, время, учётную запись и тип входа вместе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SHA-256: sha256sum -c проверяет файл; Get-FileHash в Windows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— не шифрование; различие показывает изменение, но не автора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Эталонный хеш тоже нужно защищать</a:t>
            </a:r>
            <a:endParaRPr lang="en-US" sz="1600" dirty="0"/>
          </a:p>
        </p:txBody>
      </p:sp>
      <p:pic>
        <p:nvPicPr>
          <p:cNvPr id="4" name="Image 0" descr="Журнал и проверк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905000"/>
            <a:ext cx="3302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контроль целостности хешем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9508" y="1536700"/>
            <a:ext cx="10799064" cy="132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sha256sum file &gt; file.sha256, затем sha256sum -c file.sha256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изменения файла проверка выдаёт несовпадение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Get-FileHash -LiteralPath $file -Algorithm SHA256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Cannot find path: файла нет или путь неверный; Documents может быть в OneDrive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не шифрует и не называет автора изменения; эталон тоже надо защищать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Резервное копирование и восстановление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800" y="1536700"/>
            <a:ext cx="3386634" cy="193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3–2–1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197100"/>
            <a:ext cx="296499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копии данных, 2 типа носителей, 1 копия в отдельном месте. Полезна автономная копия против вымогателей.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34" y="1536700"/>
            <a:ext cx="3386634" cy="193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34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56634" y="2197100"/>
            <a:ext cx="296499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Допустимый объём потерь по времени. Пример: данные за последний час.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67" y="1536700"/>
            <a:ext cx="3386634" cy="193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467" y="179070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7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46467" y="2197100"/>
            <a:ext cx="296499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Допустимый срок восстановления. Пример: четыре часа.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7211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Копия на том же диске не защитит от отказа накопителя. Регулярно проверяйте восстановление (cp -p, cmp).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тестовое восстановление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2396" y="1536700"/>
            <a:ext cx="10806176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Создайте каталоги source, backup и restore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Скопируйте отчёт в backup, затем в restore: cp -p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 оригинал и результат: cmp, тишина означает совпадение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Копия на том же диске — только демонстрация, это не защита от отказа накопителя</a:t>
            </a:r>
            <a:endParaRPr lang="en-US" sz="1700" dirty="0"/>
          </a:p>
          <a:p>
            <a:pPr algn="l" marL="184404" indent="-184404">
              <a:lnSpc>
                <a:spcPts val="2210"/>
              </a:lnSpc>
              <a:buSzPct val="100000"/>
              <a:buChar char="•"/>
            </a:pPr>
            <a:r>
              <a:rPr lang="en-US" sz="17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Главное: регулярно проверять, что восстановление реально работает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 на инциденты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9508" y="1536700"/>
            <a:ext cx="6456172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Изолировать устройство от сети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Сообщить специалисту по ИТ и безопасности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Зафиксировать время, сообщения, признаки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Определить, затронуты ли другие устройства и ресурсы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и устранить причину проникновения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Восстановить из чистой системы и проверенной копии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Документировать меры против повторения</a:t>
            </a:r>
            <a:endParaRPr lang="en-US" sz="1600" dirty="0"/>
          </a:p>
          <a:p>
            <a:pPr algn="l" marL="177292" indent="-177292">
              <a:lnSpc>
                <a:spcPts val="2080"/>
              </a:lnSpc>
              <a:buSzPct val="100000"/>
              <a:buChar char="•"/>
            </a:pPr>
            <a:r>
              <a:rPr lang="en-US" sz="16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Немедленное выключение может уничтожить данные в памяти</a:t>
            </a:r>
            <a:endParaRPr lang="en-US" sz="1600" dirty="0"/>
          </a:p>
        </p:txBody>
      </p:sp>
      <p:pic>
        <p:nvPicPr>
          <p:cNvPr id="4" name="Image 0" descr="Предупреждение об инцидент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1905000"/>
            <a:ext cx="3302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Комплексный сценарий: лаборатория предприятия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9300"/>
          <a:ext cx="10553700" cy="3253184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Общая админ-запись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Индивидуальные стандартные записи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Запись разрешена всем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Групповые права по должностям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Устаревшая система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Тестирование и плановое обновление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Неограниченный удалённый доступ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Разрешённые источники и MFA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Копия на том же диске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Отдельная защищённая копия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аудита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Журналы входов и изменений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526484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Роли: лаборант вводит, руководитель утверждает, отдел качества читает, ИТ обслуживает.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чек-лист защиты ОС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400"/>
          <a:ext cx="10553700" cy="3281363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сделать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Обновления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Включить автоматическую установку и перезагружать при необходимости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Учётные записи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Повседневная работа без прав администратора, MFA для входа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Включить межсетевой экран, закрыть лишние порты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Данные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Шифровать диск, делать копии по правилу 3–2–1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Контроль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Хранить журналы, проверять процессы и автозапуск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84763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Начните с этих пяти пунктов: они закрывают большинство типовых рисков.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96620" y="1536700"/>
            <a:ext cx="10791952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«Безопасность операционных систем» (файл Infobez7.pdf)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Learn: документация PowerShell, icacls, Windows Event Log, BitLocker, Microsoft Defender (learn.microsoft.com)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Documentation и руководства man: apt, ufw, systemd, journalctl, ss (ubuntu.com/server/docs, man7.org)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800-12: Introduction to Information Security (nist.gov)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 системы менеджмента информационной безопасности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343650"/>
            <a:ext cx="58864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операционных систем ·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Безопасность операционных систем">
  <a:themeElements>
    <a:clrScheme name="Безопасность операционных систем">
      <a:dk1>
        <a:srgbClr val="14212B"/>
      </a:dk1>
      <a:lt1>
        <a:srgbClr val="F4F1EA"/>
      </a:lt1>
      <a:dk2>
        <a:srgbClr val="4C555B"/>
      </a:dk2>
      <a:lt2>
        <a:srgbClr val="DEDCD7"/>
      </a:lt2>
      <a:accent1>
        <a:srgbClr val="B5701A"/>
      </a:accent1>
      <a:accent2>
        <a:srgbClr val="8B949B"/>
      </a:accent2>
      <a:accent3>
        <a:srgbClr val="4A555D"/>
      </a:accent3>
      <a:accent4>
        <a:srgbClr val="9AA0A6"/>
      </a:accent4>
      <a:accent5>
        <a:srgbClr val="6E7477"/>
      </a:accent5>
      <a:accent6>
        <a:srgbClr val="8F9394"/>
      </a:accent6>
      <a:hlink>
        <a:srgbClr val="0563C1"/>
      </a:hlink>
      <a:folHlink>
        <a:srgbClr val="954F72"/>
      </a:folHlink>
    </a:clrScheme>
    <a:fontScheme name="Безопасность операционных систем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</dc:title>
  <dc:subject/>
  <dc:creator/>
  <cp:lastModifiedBy/>
  <cp:revision>1</cp:revision>
  <dcterms:created xsi:type="dcterms:W3CDTF">2026-10-29T12:13:54Z</dcterms:created>
  <dcterms:modified xsi:type="dcterms:W3CDTF">2026-10-29T12:13:54Z</dcterms:modified>
</cp:coreProperties>
</file>