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  <ns0:embeddedFont>
      <ns0:font typeface="Playfair Display"/>
      <ns0:bold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6" Type="http://schemas.openxmlformats.org/officeDocument/2006/relationships/font" Target="fonts/800c2431-e5ee-420a-a4f4-199b67b22720.fntdata"/><Relationship Id="rIdFont17" Type="http://schemas.openxmlformats.org/officeDocument/2006/relationships/font" Target="fonts/857ec130-539d-4c2f-89e0-cbeb339cd3a4.fntdata"/><Relationship Id="rIdFont18" Type="http://schemas.openxmlformats.org/officeDocument/2006/relationships/font" Target="fonts/96bf3f0d-087f-46e0-9762-88d2e2c007c1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852987"/>
            <a:ext cx="685800" cy="381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66912"/>
            <a:ext cx="4024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Plus Jakarta Sans"/>
              </a:rPr>
              <a:t>CULINARY TRADITIONS &amp; HERITAGE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57437"/>
            <a:ext cx="8601075" cy="1314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b="1" sz="4500" i="0" u="none">
                <a:solidFill>
                  <a:srgbClr val="FFFFFF"/>
                </a:solidFill>
                <a:latin typeface="Playfair Display"/>
              </a:rPr>
              <a:t>Flavors of Azerbaijan: A Cultural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00487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A1A1AA"/>
                </a:solidFill>
                <a:latin typeface="Plus Jakarta Sans"/>
              </a:rPr>
              <a:t>Discover the rich history, vibrant spices, and timeless hospitality of Azerbaijani national cuisine.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4808"/>
            <a:ext cx="3505200" cy="2396132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54808"/>
            <a:ext cx="3505200" cy="2396132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54808"/>
            <a:ext cx="3505200" cy="2396132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6913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6913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6913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202483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202483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1062" y="3202483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8181B"/>
                </a:solidFill>
                <a:latin typeface="Playfair Display"/>
              </a:rPr>
              <a:t>The Art of Azerbaijani Cuisine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16833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ayfair Display"/>
              </a:rPr>
              <a:t>Fresh Regional Herbs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16883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Tarragon, cilantro, basil, and mint elevate every authentic national dish.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16833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ayfair Display"/>
              </a:rPr>
              <a:t>Saffron &amp; Silk Road Spices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16883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Golden saffron and sumac deliver distinct aroma and vibrant color.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16833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ayfair Display"/>
              </a:rPr>
              <a:t>Slow Cooking Tradition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16883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Clay pot stews and open fire charcoal grills preserve deep flavor.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86500" y="2495550"/>
            <a:ext cx="5295900" cy="89535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0" y="3581400"/>
            <a:ext cx="5295900" cy="89535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667250"/>
            <a:ext cx="5295900" cy="647700"/>
          </a:xfrm>
          <a:prstGeom prst="roundRect">
            <a:avLst>
              <a:gd name="adj" fmla="val 17647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2495550"/>
            <a:ext cx="38100" cy="895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0" y="3581400"/>
            <a:ext cx="38100" cy="8953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9750"/>
            <a:ext cx="5295900" cy="419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857750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NATIONAL DISH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8181B"/>
                </a:solidFill>
                <a:latin typeface="Playfair Display"/>
              </a:rPr>
              <a:t>Plov: The Crown Jewel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686050"/>
            <a:ext cx="56388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lus Jakarta Sans"/>
              </a:rPr>
              <a:t>Shah Plov (King's Pilaf)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981325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Baked inside a golden lavash dough crown with saffron rice.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771900"/>
            <a:ext cx="56388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lus Jakarta Sans"/>
              </a:rPr>
              <a:t>Signature Ingredients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067175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Tender lamb, chestnuts, dried plums, and golden raisins.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4881562"/>
            <a:ext cx="5219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C2D12"/>
                </a:solidFill>
                <a:latin typeface="Plus Jakarta Sans"/>
              </a:rPr>
              <a:t>Over 40 unique regional variations across Azerbaijan.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05025"/>
            <a:ext cx="5334000" cy="360045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105025"/>
            <a:ext cx="5334000" cy="360045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43150"/>
            <a:ext cx="4857750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343150"/>
            <a:ext cx="4857750" cy="209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POPULAR STAPLES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8181B"/>
                </a:solidFill>
                <a:latin typeface="Playfair Display"/>
              </a:rPr>
              <a:t>Dolma &amp; Qutab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629150"/>
            <a:ext cx="6375796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8181B"/>
                </a:solidFill>
                <a:latin typeface="Playfair Display"/>
              </a:rPr>
              <a:t>Yarpaq Dolmasi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029200"/>
            <a:ext cx="4953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Minced lamb wrapped in tender grape leaves, served with garlic yogurt.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4629150"/>
            <a:ext cx="57054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8181B"/>
                </a:solidFill>
                <a:latin typeface="Playfair Display"/>
              </a:rPr>
              <a:t>Crispy Qutab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5029200"/>
            <a:ext cx="4953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Paper-thin flatbread stuffed with fresh green herbs, pumpkin, or minced meat.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58628"/>
            <a:ext cx="5295900" cy="1432321"/>
          </a:xfrm>
          <a:prstGeom prst="roundRect">
            <a:avLst>
              <a:gd name="adj" fmla="val 10640"/>
            </a:avLst>
          </a:prstGeom>
          <a:solidFill>
            <a:srgbClr val="FAFAFA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19550"/>
            <a:ext cx="5295900" cy="1432321"/>
          </a:xfrm>
          <a:prstGeom prst="roundRect">
            <a:avLst>
              <a:gd name="adj" fmla="val 10640"/>
            </a:avLst>
          </a:prstGeom>
          <a:solidFill>
            <a:srgbClr val="FAFAFA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05000"/>
            <a:ext cx="52959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682478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343400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MEAT SPECIALTIES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8181B"/>
                </a:solidFill>
                <a:latin typeface="Playfair Display"/>
              </a:rPr>
              <a:t>Lyulya Kebab &amp; Sheki Piti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034903"/>
            <a:ext cx="48387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Minced lamb grilled over open charcoal embers, dusted with sumac.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695825"/>
            <a:ext cx="48387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Eight-hour slow-cooked stew in individual clay pots with chickpeas and chestnuts.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2634853"/>
            <a:ext cx="167520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ayfair Display"/>
              </a:rPr>
              <a:t>Lyulya Kebab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4295775"/>
            <a:ext cx="128016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ayfair Display"/>
              </a:rPr>
              <a:t>Sheki Piti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047875"/>
            <a:ext cx="529590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514725"/>
            <a:ext cx="5295900" cy="127635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981575"/>
            <a:ext cx="5295900" cy="781050"/>
          </a:xfrm>
          <a:prstGeom prst="roundRect">
            <a:avLst>
              <a:gd name="adj" fmla="val 14634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05000"/>
            <a:ext cx="52959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5276850"/>
            <a:ext cx="2190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DESSERTS &amp; PASTRIES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8181B"/>
                </a:solidFill>
                <a:latin typeface="Playfair Display"/>
              </a:rPr>
              <a:t>Sweet Festive Delights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286000"/>
            <a:ext cx="566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ayfair Display"/>
              </a:rPr>
              <a:t>Pakhlava (Baklava)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647950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Layered thin pastry with finely crushed walnuts, cardamom, and saffron honey syrup.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752850"/>
            <a:ext cx="566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Playfair Display"/>
              </a:rPr>
              <a:t>Şəkərbura (Shekerbura)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114800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Crescent-shaped pastry with carved wheat patterns, filled with hazelnut and sugar.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5153025"/>
            <a:ext cx="46767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C2D12"/>
                </a:solidFill>
                <a:latin typeface="Plus Jakarta Sans"/>
              </a:rPr>
              <a:t>Essential festive treats during Novruz spring celebrations.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19350"/>
            <a:ext cx="5295900" cy="990600"/>
          </a:xfrm>
          <a:prstGeom prst="roundRect">
            <a:avLst>
              <a:gd name="adj" fmla="val 15384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600450"/>
            <a:ext cx="5295900" cy="990600"/>
          </a:xfrm>
          <a:prstGeom prst="roundRect">
            <a:avLst>
              <a:gd name="adj" fmla="val 15384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81550"/>
            <a:ext cx="5295900" cy="609600"/>
          </a:xfrm>
          <a:prstGeom prst="roundRect">
            <a:avLst>
              <a:gd name="adj" fmla="val 1875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05000"/>
            <a:ext cx="52959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72050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HOSPITALITY SYMBOL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8181B"/>
                </a:solidFill>
                <a:latin typeface="Playfair Display"/>
              </a:rPr>
              <a:t>Armudu Tea 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647950"/>
            <a:ext cx="63507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lus Jakarta Sans"/>
              </a:rPr>
              <a:t>Pear-Shaped Armudu Glass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962275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Keeps tea hot at the bottom while cooling at the top rim.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29050"/>
            <a:ext cx="63507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Plus Jakarta Sans"/>
              </a:rPr>
              <a:t>Traditional Tea Accompaniments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43375"/>
            <a:ext cx="604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Served with wild cherry, quince, and walnut preserves.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976812"/>
            <a:ext cx="5381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C2D12"/>
                </a:solidFill>
                <a:latin typeface="Plus Jakarta Sans"/>
              </a:rPr>
              <a:t>Recognized as UNESCO Intangible Cultural Heritage.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91200" y="436527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19725" y="2454622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D97706"/>
                </a:solidFill>
                <a:latin typeface="Plus Jakarta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666" y="2807047"/>
            <a:ext cx="9338667" cy="700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b="1" sz="4800" i="0" u="none">
                <a:solidFill>
                  <a:srgbClr val="FFFFFF"/>
                </a:solidFill>
                <a:latin typeface="Playfair Display"/>
              </a:rPr>
              <a:t>Nuş Olsun! (Bon Appétit!)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3250" y="3698527"/>
            <a:ext cx="5905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A1A1AA"/>
                </a:solidFill>
                <a:latin typeface="Plus Jakarta Sans"/>
              </a:rPr>
              <a:t>Questions or thoughts on Azerbaijani culinary culture?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